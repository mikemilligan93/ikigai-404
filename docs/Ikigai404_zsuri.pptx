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yitás" id="{89a59d95-1b5f-7061-b728-3e845909409a}">
          <p14:sldIdLst>
            <p14:sldId id="256"/>
            <p14:sldId id="257"/>
          </p14:sldIdLst>
        </p14:section>
        <p14:section name="A játék" id="{a15a33ee-cfd1-82b0-8071-592a1cee8292}">
          <p14:sldIdLst>
            <p14:sldId id="258"/>
            <p14:sldId id="259"/>
            <p14:sldId id="260"/>
          </p14:sldIdLst>
        </p14:section>
        <p14:section name="Megvalósítás" id="{4a79c896-06a3-0c1c-99e1-7c7a1b145bc4}">
          <p14:sldIdLst>
            <p14:sldId id="261"/>
            <p14:sldId id="262"/>
            <p14:sldId id="263"/>
          </p14:sldIdLst>
        </p14:section>
        <p14:section name="Csapat és jövő" id="{939ef167-5a93-c365-3d28-aee7dd6c5f10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Sziasztok! Ez az Ikigai 404 — Purpose not found. Egy 8-bites, japán hangulatú böngészős játék egy kiégett nyusziról, aki megpróbálja túlélni a napot az irodában. Pár perc alatt elmeséljük, miről szól, hogyan játszható, és hogyan raktuk össze 24 óra alatt.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játék közvetlenül a Health Week után játszódik. Egy hétig mindenki a jóllétről beszélt, hétfőn pedig minden visszaáll. A nyuszi rémálomból ébred, belenéz a tükörbe — „Smile. HR is watching.” —, és elindul a metróhoz. A kérdés, ami végigkísérte a fejlesztést: el lehet-e kerülni a kiégést úgy, hogy közben nevetünk is rajta?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nap öt helyszínen játszódik. Otthon felébredünk; a tükör, a növény és a macska apró interakciók, a reggeli rutin pontot ér. A metróban jön a jegyellenőr, aki szó szerint elindítja a nyomort. Az utcán egy koldus mondja: „I am freer than you are.” Az irodában egy e-mail indítja a napot, és az iroda ellenünk fordul. A végén a liftben találkozunk a főnökkel. Az úton oldalnézet, az irodában klasszikus japán RPG-felülnézet, a végén portrés párbeszéd.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Életerő helyett mentális egészségünk van, és a nyuszi testtartása mutatja, hogy állunk: rendben, fáradt, majdnem kiégett. Ha elfogy, nem halunk meg — kiégünk. A kollégáknak aurájuk van: a zöld segít, a piros lecsapol. Az iroda szó szerint ellenünk fordul: az ügyfél e-maileket szór, a nyomtató papírt, a kávégép kávét, a klíma jégkockát. A végén jön a CEO, aki szívecskéket dobál, mert „we’re a family”.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játék lelke. Nem akartuk elveszíteni a cinikus humort, de azt akartuk, hogy legyen kiút. A szabály: előbb a poén, aztán egy őszinte mondat. A mochi felvételekor nemcsak „+mochivation” jön, hanem pl. „You ate lunch away from your desk.” A kiégés-képernyőn a vicces mondat alatt ott van: a kiégés nem egyéni kudarc. És a végén a liftben kiderül, hogy a főnök is fáradt — ő küld haza időben. Az öngondoskodás ráadásul pontot is ér: aki szünetet tart, többet 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technika szándékosan egyszerű. Sima JavaScript és Canvas, egyetlen külső könyvtár nélkül, build lépés sincs — így bárki megnyitja és futtatja. A Cloudflare Workers szolgálja ki a GitHubról, minden push után élesben van. A ranglista egy saját Worker-API KV-tárral; ha nem elérhető, a játék helyi mentésre vált. A legfontosabb döntés: minden szám a config.jsonban, minden szöveg a texts.jsonban van, így a csapat kódolás nélkül is tud hangolni és írni.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grafika nagy része ChatGPT-vel készült, de a nyers kép nem pixel art: puha, elmosott, mindig más méretű. Ezért írtunk egy feldolgozó szkriptet: kiszedi a magenta hátteret, megtalálja a képkockákat, megbecsüli, mekkora egy „nagy pixel”, és mindent ugyanarra a 16 színű palettára igazít. Így 75 képlap egységes stílusban került a játékba. A promptokat egy közös táblázatban osztottuk ki, státusszal.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Néhány szám: 75 képlap, 36 hangeffekt egyforma hangerőre keverve, nagyjából 3800 sor kód, 260 szöveg. Az irodában 44 szék van, közülük kb. 30-on dolgozik valaki — gépelnek, telefonálnak, elalszanak. És mindez nulla külső könyvtárral. A jobb oldalon a teljes iroda látható felülről.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Így dolgoztunk. A termékgazda döntött, buildelt és tesztelt. A csapat promptokból generálta a képeket, írta a kollégák és bossok szövegeit, és hozta a hangokat. Claude írta a kódot, a promptokat, feldolgozta a képeket és minden kör után tesztelt. Volt néhány nagy irányváltás: a kezdeti fametszet-stílust eldobtuk és újrakezdtük 8 bitben; később egy egész olvashatósági kört csináltunk; és a játékteszt után kiegyensúlyoztuk a nehézséget.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Hogyan tovább? A győzelmi képernyő már ígéri: Level 2, a menza. Szeretnénk a Health Week maradványait is beépíteni az irodába — plakátokat, hervadó gyümölcskosarat —, és egy céges ranglista-eseményt, ahol nemcsak a pontszám, hanem az öngondoskodás is számít.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játék így ér véget: 17:00, hazamentél időben, és semmi nem gyulladt ki. Ez a kis üzenet az egész lényege: a kiégés elkerülhető. Próbáljátok ki az ikigai404.online oldalon. Köszönjük!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5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54864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5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IKIGAI 404 · Mito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IKIGAI 404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2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 not found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E8D5"/>
                </a:solidFill>
              </a:rPr>
              <a:t>Egy kiégett nyuszi egy napja az irodában.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E8B84A"/>
                </a:solidFill>
              </a:rPr>
              <a:t>És hogyan éli túl.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</a:rPr>
              <a:t>Mito Hackathon 2026  ·  böngészős 8-bites játék</a:t>
            </a:r>
            <a:endParaRPr lang="en-US" sz="1300" dirty="0"/>
          </a:p>
        </p:txBody>
      </p:sp>
      <p:sp>
        <p:nvSpPr>
          <p:cNvPr id="5" name="Title screen edge"/>
          <p:cNvSpPr/>
          <p:nvPr/>
        </p:nvSpPr>
        <p:spPr>
          <a:xfrm>
            <a:off x="6483096" y="1453896"/>
            <a:ext cx="5184648" cy="2964371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6" name="Title screen border"/>
          <p:cNvSpPr/>
          <p:nvPr/>
        </p:nvSpPr>
        <p:spPr>
          <a:xfrm>
            <a:off x="6510528" y="1481328"/>
            <a:ext cx="5129784" cy="2909507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7" name="Title screen stud"/>
          <p:cNvSpPr/>
          <p:nvPr/>
        </p:nvSpPr>
        <p:spPr>
          <a:xfrm>
            <a:off x="6483096" y="145389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Title screen stud"/>
          <p:cNvSpPr/>
          <p:nvPr/>
        </p:nvSpPr>
        <p:spPr>
          <a:xfrm>
            <a:off x="11576304" y="145389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9" name="Title screen stud"/>
          <p:cNvSpPr/>
          <p:nvPr/>
        </p:nvSpPr>
        <p:spPr>
          <a:xfrm>
            <a:off x="6483096" y="4326827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0" name="Title screen stud"/>
          <p:cNvSpPr/>
          <p:nvPr/>
        </p:nvSpPr>
        <p:spPr>
          <a:xfrm>
            <a:off x="11576304" y="4326827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11" name="Title screen" descr="/home/claude/deck/shots/01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508760"/>
            <a:ext cx="5074920" cy="28546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Hétfő, 08:59. Vége a Health Weeknek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2E8D5"/>
                </a:solidFill>
              </a:rPr>
              <a:t>Egy hét jóga, gyümölcskosár és stresszlabda után minden visszaáll a régibe.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2E8D5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2E8D5"/>
                </a:solidFill>
              </a:rPr>
              <a:t>A nyuszi rémálomból ébred: „a határidő… tegnap volt”. Felkel, belenéz a tükörbe, megsimogatja a macskát, és elindul.</a:t>
            </a:r>
            <a:endParaRPr lang="en-US" sz="1700" dirty="0"/>
          </a:p>
        </p:txBody>
      </p:sp>
      <p:sp>
        <p:nvSpPr>
          <p:cNvPr id="4" name="Question panel"/>
          <p:cNvSpPr/>
          <p:nvPr/>
        </p:nvSpPr>
        <p:spPr>
          <a:xfrm>
            <a:off x="548640" y="3886200"/>
            <a:ext cx="4846320" cy="178308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5" name="Question panel stud"/>
          <p:cNvSpPr/>
          <p:nvPr/>
        </p:nvSpPr>
        <p:spPr>
          <a:xfrm>
            <a:off x="512064" y="384962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6" name="Question panel stud"/>
          <p:cNvSpPr/>
          <p:nvPr/>
        </p:nvSpPr>
        <p:spPr>
          <a:xfrm>
            <a:off x="5358384" y="384962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7" name="Question panel stud"/>
          <p:cNvSpPr/>
          <p:nvPr/>
        </p:nvSpPr>
        <p:spPr>
          <a:xfrm>
            <a:off x="512064" y="56327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Question panel stud"/>
          <p:cNvSpPr/>
          <p:nvPr/>
        </p:nvSpPr>
        <p:spPr>
          <a:xfrm>
            <a:off x="5358384" y="56327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69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KÉRDÉSÜNK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348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2E8D5"/>
                </a:solidFill>
              </a:rPr>
              <a:t>El lehet-e kerülni a kiégést, úgy, hogy közben nevetünk is rajta?</a:t>
            </a:r>
            <a:endParaRPr lang="en-US" sz="2100" dirty="0"/>
          </a:p>
        </p:txBody>
      </p:sp>
      <p:sp>
        <p:nvSpPr>
          <p:cNvPr id="11" name="Nightmare edge"/>
          <p:cNvSpPr/>
          <p:nvPr/>
        </p:nvSpPr>
        <p:spPr>
          <a:xfrm>
            <a:off x="5888736" y="1316736"/>
            <a:ext cx="2852928" cy="1652778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2" name="Nightmare border"/>
          <p:cNvSpPr/>
          <p:nvPr/>
        </p:nvSpPr>
        <p:spPr>
          <a:xfrm>
            <a:off x="5916168" y="1344168"/>
            <a:ext cx="2798064" cy="1597914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13" name="Nightmare stud"/>
          <p:cNvSpPr/>
          <p:nvPr/>
        </p:nvSpPr>
        <p:spPr>
          <a:xfrm>
            <a:off x="5888736" y="13167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4" name="Nightmare stud"/>
          <p:cNvSpPr/>
          <p:nvPr/>
        </p:nvSpPr>
        <p:spPr>
          <a:xfrm>
            <a:off x="8650224" y="13167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5" name="Nightmare stud"/>
          <p:cNvSpPr/>
          <p:nvPr/>
        </p:nvSpPr>
        <p:spPr>
          <a:xfrm>
            <a:off x="5888736" y="287807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6" name="Nightmare stud"/>
          <p:cNvSpPr/>
          <p:nvPr/>
        </p:nvSpPr>
        <p:spPr>
          <a:xfrm>
            <a:off x="8650224" y="287807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17" name="Nightmare" descr="/home/claude/deck/shots/02_w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2743200" cy="1543050"/>
          </a:xfrm>
          <a:prstGeom prst="rect">
            <a:avLst/>
          </a:prstGeom>
        </p:spPr>
      </p:pic>
      <p:sp>
        <p:nvSpPr>
          <p:cNvPr id="18" name="Flat edge"/>
          <p:cNvSpPr/>
          <p:nvPr/>
        </p:nvSpPr>
        <p:spPr>
          <a:xfrm>
            <a:off x="8860536" y="1316736"/>
            <a:ext cx="2852928" cy="1652778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9" name="Flat border"/>
          <p:cNvSpPr/>
          <p:nvPr/>
        </p:nvSpPr>
        <p:spPr>
          <a:xfrm>
            <a:off x="8887968" y="1344168"/>
            <a:ext cx="2798064" cy="1597914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20" name="Flat stud"/>
          <p:cNvSpPr/>
          <p:nvPr/>
        </p:nvSpPr>
        <p:spPr>
          <a:xfrm>
            <a:off x="8860536" y="13167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1" name="Flat stud"/>
          <p:cNvSpPr/>
          <p:nvPr/>
        </p:nvSpPr>
        <p:spPr>
          <a:xfrm>
            <a:off x="11622024" y="13167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2" name="Flat stud"/>
          <p:cNvSpPr/>
          <p:nvPr/>
        </p:nvSpPr>
        <p:spPr>
          <a:xfrm>
            <a:off x="8860536" y="287807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3" name="Flat stud"/>
          <p:cNvSpPr/>
          <p:nvPr/>
        </p:nvSpPr>
        <p:spPr>
          <a:xfrm>
            <a:off x="11622024" y="287807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24" name="Flat" descr="/home/claude/deck/shots/03_fla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371600"/>
            <a:ext cx="2743200" cy="1543050"/>
          </a:xfrm>
          <a:prstGeom prst="rect">
            <a:avLst/>
          </a:prstGeom>
        </p:spPr>
      </p:pic>
      <p:sp>
        <p:nvSpPr>
          <p:cNvPr id="25" name="Metro edge"/>
          <p:cNvSpPr/>
          <p:nvPr/>
        </p:nvSpPr>
        <p:spPr>
          <a:xfrm>
            <a:off x="5888736" y="3191256"/>
            <a:ext cx="5824728" cy="3324416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26" name="Metro border"/>
          <p:cNvSpPr/>
          <p:nvPr/>
        </p:nvSpPr>
        <p:spPr>
          <a:xfrm>
            <a:off x="5916168" y="3218688"/>
            <a:ext cx="5769864" cy="3269552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27" name="Metro stud"/>
          <p:cNvSpPr/>
          <p:nvPr/>
        </p:nvSpPr>
        <p:spPr>
          <a:xfrm>
            <a:off x="5888736" y="319125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8" name="Metro stud"/>
          <p:cNvSpPr/>
          <p:nvPr/>
        </p:nvSpPr>
        <p:spPr>
          <a:xfrm>
            <a:off x="11622024" y="319125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9" name="Metro stud"/>
          <p:cNvSpPr/>
          <p:nvPr/>
        </p:nvSpPr>
        <p:spPr>
          <a:xfrm>
            <a:off x="5888736" y="6424232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0" name="Metro stud"/>
          <p:cNvSpPr/>
          <p:nvPr/>
        </p:nvSpPr>
        <p:spPr>
          <a:xfrm>
            <a:off x="11622024" y="6424232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31" name="Metro" descr="/home/claude/deck/shots/04_metr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246120"/>
            <a:ext cx="5715000" cy="32146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Egy nap, öt helyszín</a:t>
            </a:r>
            <a:endParaRPr lang="en-US" sz="3200" dirty="0"/>
          </a:p>
        </p:txBody>
      </p:sp>
      <p:sp>
        <p:nvSpPr>
          <p:cNvPr id="3" name="Step 1 edge"/>
          <p:cNvSpPr/>
          <p:nvPr/>
        </p:nvSpPr>
        <p:spPr>
          <a:xfrm>
            <a:off x="493776" y="1545336"/>
            <a:ext cx="2212848" cy="1292733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4" name="Step 1 border"/>
          <p:cNvSpPr/>
          <p:nvPr/>
        </p:nvSpPr>
        <p:spPr>
          <a:xfrm>
            <a:off x="521208" y="1572768"/>
            <a:ext cx="2157984" cy="1237869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5" name="Step 1 stud"/>
          <p:cNvSpPr/>
          <p:nvPr/>
        </p:nvSpPr>
        <p:spPr>
          <a:xfrm>
            <a:off x="493776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6" name="Step 1 stud"/>
          <p:cNvSpPr/>
          <p:nvPr/>
        </p:nvSpPr>
        <p:spPr>
          <a:xfrm>
            <a:off x="2615184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7" name="Step 1 stud"/>
          <p:cNvSpPr/>
          <p:nvPr/>
        </p:nvSpPr>
        <p:spPr>
          <a:xfrm>
            <a:off x="493776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Step 1 stud"/>
          <p:cNvSpPr/>
          <p:nvPr/>
        </p:nvSpPr>
        <p:spPr>
          <a:xfrm>
            <a:off x="2615184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9" name="Step 1" descr="/home/claude/deck/shots/03_fl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103120" cy="11830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Otthon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383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Ébredés, tükör, növény, macska. A reggeli rutin pontot ér.</a:t>
            </a:r>
            <a:endParaRPr lang="en-US" sz="1400" dirty="0"/>
          </a:p>
        </p:txBody>
      </p:sp>
      <p:sp>
        <p:nvSpPr>
          <p:cNvPr id="12" name="Step 2 edge"/>
          <p:cNvSpPr/>
          <p:nvPr/>
        </p:nvSpPr>
        <p:spPr>
          <a:xfrm>
            <a:off x="2734056" y="1545336"/>
            <a:ext cx="2212848" cy="1292733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3" name="Step 2 border"/>
          <p:cNvSpPr/>
          <p:nvPr/>
        </p:nvSpPr>
        <p:spPr>
          <a:xfrm>
            <a:off x="2761488" y="1572768"/>
            <a:ext cx="2157984" cy="1237869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14" name="Step 2 stud"/>
          <p:cNvSpPr/>
          <p:nvPr/>
        </p:nvSpPr>
        <p:spPr>
          <a:xfrm>
            <a:off x="2734056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5" name="Step 2 stud"/>
          <p:cNvSpPr/>
          <p:nvPr/>
        </p:nvSpPr>
        <p:spPr>
          <a:xfrm>
            <a:off x="4855464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6" name="Step 2 stud"/>
          <p:cNvSpPr/>
          <p:nvPr/>
        </p:nvSpPr>
        <p:spPr>
          <a:xfrm>
            <a:off x="2734056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7" name="Step 2 stud"/>
          <p:cNvSpPr/>
          <p:nvPr/>
        </p:nvSpPr>
        <p:spPr>
          <a:xfrm>
            <a:off x="4855464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18" name="Step 2" descr="/home/claude/deck/shots/05_inspect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00200"/>
            <a:ext cx="2103120" cy="11830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78892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Metró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2788920" y="3383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Elsuhanó vonat, szálló szemét, a jegyellenőr elindítja a nyomort.</a:t>
            </a:r>
            <a:endParaRPr lang="en-US" sz="1400" dirty="0"/>
          </a:p>
        </p:txBody>
      </p:sp>
      <p:sp>
        <p:nvSpPr>
          <p:cNvPr id="21" name="Step 3 edge"/>
          <p:cNvSpPr/>
          <p:nvPr/>
        </p:nvSpPr>
        <p:spPr>
          <a:xfrm>
            <a:off x="4974336" y="1545336"/>
            <a:ext cx="2212848" cy="1292733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22" name="Step 3 border"/>
          <p:cNvSpPr/>
          <p:nvPr/>
        </p:nvSpPr>
        <p:spPr>
          <a:xfrm>
            <a:off x="5001768" y="1572768"/>
            <a:ext cx="2157984" cy="1237869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23" name="Step 3 stud"/>
          <p:cNvSpPr/>
          <p:nvPr/>
        </p:nvSpPr>
        <p:spPr>
          <a:xfrm>
            <a:off x="4974336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4" name="Step 3 stud"/>
          <p:cNvSpPr/>
          <p:nvPr/>
        </p:nvSpPr>
        <p:spPr>
          <a:xfrm>
            <a:off x="7095744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5" name="Step 3 stud"/>
          <p:cNvSpPr/>
          <p:nvPr/>
        </p:nvSpPr>
        <p:spPr>
          <a:xfrm>
            <a:off x="4974336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6" name="Step 3 stud"/>
          <p:cNvSpPr/>
          <p:nvPr/>
        </p:nvSpPr>
        <p:spPr>
          <a:xfrm>
            <a:off x="7095744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27" name="Step 3" descr="/home/claude/deck/shots/06_stree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00200"/>
            <a:ext cx="2103120" cy="118300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02920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Utca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5029200" y="3383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Cseresznyevirág és egy koldus: „I am freer than you are.”</a:t>
            </a:r>
            <a:endParaRPr lang="en-US" sz="1400" dirty="0"/>
          </a:p>
        </p:txBody>
      </p:sp>
      <p:sp>
        <p:nvSpPr>
          <p:cNvPr id="30" name="Step 4 edge"/>
          <p:cNvSpPr/>
          <p:nvPr/>
        </p:nvSpPr>
        <p:spPr>
          <a:xfrm>
            <a:off x="7214616" y="1545336"/>
            <a:ext cx="2212848" cy="1292733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31" name="Step 4 border"/>
          <p:cNvSpPr/>
          <p:nvPr/>
        </p:nvSpPr>
        <p:spPr>
          <a:xfrm>
            <a:off x="7242048" y="1572768"/>
            <a:ext cx="2157984" cy="1237869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32" name="Step 4 stud"/>
          <p:cNvSpPr/>
          <p:nvPr/>
        </p:nvSpPr>
        <p:spPr>
          <a:xfrm>
            <a:off x="7214616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3" name="Step 4 stud"/>
          <p:cNvSpPr/>
          <p:nvPr/>
        </p:nvSpPr>
        <p:spPr>
          <a:xfrm>
            <a:off x="9336024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4" name="Step 4 stud"/>
          <p:cNvSpPr/>
          <p:nvPr/>
        </p:nvSpPr>
        <p:spPr>
          <a:xfrm>
            <a:off x="7214616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5" name="Step 4 stud"/>
          <p:cNvSpPr/>
          <p:nvPr/>
        </p:nvSpPr>
        <p:spPr>
          <a:xfrm>
            <a:off x="9336024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36" name="Step 4" descr="/home/claude/deck/shots/08_wav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00200"/>
            <a:ext cx="2103120" cy="1183005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Iroda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3383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Egy e-mail, és az iroda ellened fordul. Minibossok, majd a CEO.</a:t>
            </a:r>
            <a:endParaRPr lang="en-US" sz="1400" dirty="0"/>
          </a:p>
        </p:txBody>
      </p:sp>
      <p:sp>
        <p:nvSpPr>
          <p:cNvPr id="39" name="Step 5 edge"/>
          <p:cNvSpPr/>
          <p:nvPr/>
        </p:nvSpPr>
        <p:spPr>
          <a:xfrm>
            <a:off x="9454896" y="1545336"/>
            <a:ext cx="2212848" cy="1292733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40" name="Step 5 border"/>
          <p:cNvSpPr/>
          <p:nvPr/>
        </p:nvSpPr>
        <p:spPr>
          <a:xfrm>
            <a:off x="9482328" y="1572768"/>
            <a:ext cx="2157984" cy="1237869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41" name="Step 5 stud"/>
          <p:cNvSpPr/>
          <p:nvPr/>
        </p:nvSpPr>
        <p:spPr>
          <a:xfrm>
            <a:off x="9454896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42" name="Step 5 stud"/>
          <p:cNvSpPr/>
          <p:nvPr/>
        </p:nvSpPr>
        <p:spPr>
          <a:xfrm>
            <a:off x="11576304" y="15453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43" name="Step 5 stud"/>
          <p:cNvSpPr/>
          <p:nvPr/>
        </p:nvSpPr>
        <p:spPr>
          <a:xfrm>
            <a:off x="9454896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44" name="Step 5 stud"/>
          <p:cNvSpPr/>
          <p:nvPr/>
        </p:nvSpPr>
        <p:spPr>
          <a:xfrm>
            <a:off x="11576304" y="274662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45" name="Step 5" descr="/home/claude/deck/shots/11_lif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600200"/>
            <a:ext cx="2103120" cy="118300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950976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Lift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9509760" y="3383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A főnök is fáradt. Egy őszinte beszélgetés hazafelé.</a:t>
            </a:r>
            <a:endParaRPr lang="en-US" sz="1400" dirty="0"/>
          </a:p>
        </p:txBody>
      </p:sp>
      <p:sp>
        <p:nvSpPr>
          <p:cNvPr id="48" name="Flow panel"/>
          <p:cNvSpPr/>
          <p:nvPr/>
        </p:nvSpPr>
        <p:spPr>
          <a:xfrm>
            <a:off x="548640" y="5074920"/>
            <a:ext cx="11064240" cy="96012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49" name="Flow panel stud"/>
          <p:cNvSpPr/>
          <p:nvPr/>
        </p:nvSpPr>
        <p:spPr>
          <a:xfrm>
            <a:off x="512064" y="50383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0" name="Flow panel stud"/>
          <p:cNvSpPr/>
          <p:nvPr/>
        </p:nvSpPr>
        <p:spPr>
          <a:xfrm>
            <a:off x="11576304" y="50383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1" name="Flow panel stud"/>
          <p:cNvSpPr/>
          <p:nvPr/>
        </p:nvSpPr>
        <p:spPr>
          <a:xfrm>
            <a:off x="512064" y="59984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2" name="Flow panel stud"/>
          <p:cNvSpPr/>
          <p:nvPr/>
        </p:nvSpPr>
        <p:spPr>
          <a:xfrm>
            <a:off x="11576304" y="59984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</a:rPr>
              <a:t>Oldalnézet </a:t>
            </a:r>
            <a:pPr indent="0" marL="0">
              <a:buNone/>
            </a:pPr>
            <a:r>
              <a:rPr lang="en-US" sz="1700" dirty="0">
                <a:solidFill>
                  <a:srgbClr val="F2E8D5"/>
                </a:solidFill>
              </a:rPr>
              <a:t>az úton  →  </a:t>
            </a:r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</a:rPr>
              <a:t>felülnézet </a:t>
            </a:r>
            <a:pPr indent="0" marL="0">
              <a:buNone/>
            </a:pPr>
            <a:r>
              <a:rPr lang="en-US" sz="1700" dirty="0">
                <a:solidFill>
                  <a:srgbClr val="F2E8D5"/>
                </a:solidFill>
              </a:rPr>
              <a:t>az irodában  →  </a:t>
            </a:r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</a:rPr>
              <a:t>portrék </a:t>
            </a:r>
            <a:pPr indent="0" marL="0">
              <a:buNone/>
            </a:pPr>
            <a:r>
              <a:rPr lang="en-US" sz="1700" dirty="0">
                <a:solidFill>
                  <a:srgbClr val="F2E8D5"/>
                </a:solidFill>
              </a:rPr>
              <a:t>a liftben. Egy játék, három nézet, egy történet.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mentális egészség az életerő</a:t>
            </a:r>
            <a:endParaRPr lang="en-US" sz="3200" dirty="0"/>
          </a:p>
        </p:txBody>
      </p:sp>
      <p:sp>
        <p:nvSpPr>
          <p:cNvPr id="3" name="Boss fight edge"/>
          <p:cNvSpPr/>
          <p:nvPr/>
        </p:nvSpPr>
        <p:spPr>
          <a:xfrm>
            <a:off x="493776" y="1316736"/>
            <a:ext cx="6144768" cy="3504438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4" name="Boss fight border"/>
          <p:cNvSpPr/>
          <p:nvPr/>
        </p:nvSpPr>
        <p:spPr>
          <a:xfrm>
            <a:off x="521208" y="1344168"/>
            <a:ext cx="6089904" cy="3449574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5" name="Boss fight stud"/>
          <p:cNvSpPr/>
          <p:nvPr/>
        </p:nvSpPr>
        <p:spPr>
          <a:xfrm>
            <a:off x="493776" y="13167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6" name="Boss fight stud"/>
          <p:cNvSpPr/>
          <p:nvPr/>
        </p:nvSpPr>
        <p:spPr>
          <a:xfrm>
            <a:off x="6547104" y="131673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7" name="Boss fight stud"/>
          <p:cNvSpPr/>
          <p:nvPr/>
        </p:nvSpPr>
        <p:spPr>
          <a:xfrm>
            <a:off x="493776" y="472973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Boss fight stud"/>
          <p:cNvSpPr/>
          <p:nvPr/>
        </p:nvSpPr>
        <p:spPr>
          <a:xfrm>
            <a:off x="6547104" y="472973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9" name="Boss fight" descr="/home/claude/deck/shots/09_bo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394710"/>
          </a:xfrm>
          <a:prstGeom prst="rect">
            <a:avLst/>
          </a:prstGeom>
        </p:spPr>
      </p:pic>
      <p:sp>
        <p:nvSpPr>
          <p:cNvPr id="10" name="Bullet 1"/>
          <p:cNvSpPr/>
          <p:nvPr/>
        </p:nvSpPr>
        <p:spPr>
          <a:xfrm>
            <a:off x="6995160" y="1444752"/>
            <a:ext cx="201168" cy="201168"/>
          </a:xfrm>
          <a:prstGeom prst="rect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13716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Életerő helyett lelki erő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173736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Három testtartás: rendben, fáradt, majdnem kiégett. Nincs halál, csak kiégés.</a:t>
            </a:r>
            <a:endParaRPr lang="en-US" sz="1400" dirty="0"/>
          </a:p>
        </p:txBody>
      </p:sp>
      <p:sp>
        <p:nvSpPr>
          <p:cNvPr id="13" name="Bullet 2"/>
          <p:cNvSpPr/>
          <p:nvPr/>
        </p:nvSpPr>
        <p:spPr>
          <a:xfrm>
            <a:off x="6995160" y="2523744"/>
            <a:ext cx="201168" cy="201168"/>
          </a:xfrm>
          <a:prstGeom prst="rect">
            <a:avLst/>
          </a:prstGeom>
          <a:solidFill>
            <a:srgbClr val="7FB3A0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24505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Kollégák aurával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2816352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Zöld aura segít (gyorsít, gyógyít, mentorál). Piros aura lecsapol, lelassít, meetingbe ragaszt.</a:t>
            </a:r>
            <a:endParaRPr lang="en-US" sz="1400" dirty="0"/>
          </a:p>
        </p:txBody>
      </p:sp>
      <p:sp>
        <p:nvSpPr>
          <p:cNvPr id="16" name="Bullet 3"/>
          <p:cNvSpPr/>
          <p:nvPr/>
        </p:nvSpPr>
        <p:spPr>
          <a:xfrm>
            <a:off x="6995160" y="3602736"/>
            <a:ext cx="201168" cy="201168"/>
          </a:xfrm>
          <a:prstGeom prst="rect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60920" y="35295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iroda ellened fordul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360920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Négy miniboss: Ügyfél, Nyomtató, Kávégép, Klíma. A végén a CEO: „We’re a family.”</a:t>
            </a:r>
            <a:endParaRPr lang="en-US" sz="1400" dirty="0"/>
          </a:p>
        </p:txBody>
      </p:sp>
      <p:sp>
        <p:nvSpPr>
          <p:cNvPr id="19" name="Bullet 4"/>
          <p:cNvSpPr/>
          <p:nvPr/>
        </p:nvSpPr>
        <p:spPr>
          <a:xfrm>
            <a:off x="6995160" y="4681728"/>
            <a:ext cx="201168" cy="201168"/>
          </a:xfrm>
          <a:prstGeom prst="rect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60920" y="460857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Fegyverek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360920" y="4974336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Aktatáska közelre, papírgalacsin távolra. Feltöltődés: mochi és a jó kávégép.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892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9E93"/>
                </a:solidFill>
              </a:rPr>
              <a:t>A boss-harc: a CEO szívecskéket dob, mert „egy család vagyunk”.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Cinizmus, egy csepp reménnyel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E8D5"/>
                </a:solidFill>
              </a:rPr>
              <a:t>A szabályunk: előbb a poén, aztán egy őszinte mondat.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9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VICC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79476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ŐSZINTE MONDAT</a:t>
            </a:r>
            <a:endParaRPr lang="en-US" sz="1300" dirty="0"/>
          </a:p>
        </p:txBody>
      </p:sp>
      <p:sp>
        <p:nvSpPr>
          <p:cNvPr id="6" name="Joke 1"/>
          <p:cNvSpPr/>
          <p:nvPr/>
        </p:nvSpPr>
        <p:spPr>
          <a:xfrm>
            <a:off x="548640" y="2148840"/>
            <a:ext cx="3063240" cy="77724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7" name="Joke 1 stud"/>
          <p:cNvSpPr/>
          <p:nvPr/>
        </p:nvSpPr>
        <p:spPr>
          <a:xfrm>
            <a:off x="512064" y="21122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Joke 1 stud"/>
          <p:cNvSpPr/>
          <p:nvPr/>
        </p:nvSpPr>
        <p:spPr>
          <a:xfrm>
            <a:off x="3575304" y="21122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9" name="Joke 1 stud"/>
          <p:cNvSpPr/>
          <p:nvPr/>
        </p:nvSpPr>
        <p:spPr>
          <a:xfrm>
            <a:off x="512064" y="28895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0" name="Joke 1 stud"/>
          <p:cNvSpPr/>
          <p:nvPr/>
        </p:nvSpPr>
        <p:spPr>
          <a:xfrm>
            <a:off x="3575304" y="28895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48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+mochivation</a:t>
            </a:r>
            <a:endParaRPr lang="en-US" sz="1400" dirty="0"/>
          </a:p>
        </p:txBody>
      </p:sp>
      <p:sp>
        <p:nvSpPr>
          <p:cNvPr id="12" name="Real 1"/>
          <p:cNvSpPr/>
          <p:nvPr/>
        </p:nvSpPr>
        <p:spPr>
          <a:xfrm>
            <a:off x="3794760" y="2148840"/>
            <a:ext cx="3383280" cy="777240"/>
          </a:xfrm>
          <a:prstGeom prst="rect">
            <a:avLst/>
          </a:prstGeom>
          <a:solidFill>
            <a:srgbClr val="23413A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13" name="Real 1 stud"/>
          <p:cNvSpPr/>
          <p:nvPr/>
        </p:nvSpPr>
        <p:spPr>
          <a:xfrm>
            <a:off x="3758184" y="21122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4" name="Real 1 stud"/>
          <p:cNvSpPr/>
          <p:nvPr/>
        </p:nvSpPr>
        <p:spPr>
          <a:xfrm>
            <a:off x="7141464" y="21122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5" name="Real 1 stud"/>
          <p:cNvSpPr/>
          <p:nvPr/>
        </p:nvSpPr>
        <p:spPr>
          <a:xfrm>
            <a:off x="3758184" y="28895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6" name="Real 1 stud"/>
          <p:cNvSpPr/>
          <p:nvPr/>
        </p:nvSpPr>
        <p:spPr>
          <a:xfrm>
            <a:off x="7141464" y="28895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2148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You ate lunch away from your desk.</a:t>
            </a:r>
            <a:endParaRPr lang="en-US" sz="1400" dirty="0"/>
          </a:p>
        </p:txBody>
      </p:sp>
      <p:sp>
        <p:nvSpPr>
          <p:cNvPr id="18" name="Joke 2"/>
          <p:cNvSpPr/>
          <p:nvPr/>
        </p:nvSpPr>
        <p:spPr>
          <a:xfrm>
            <a:off x="548640" y="3108960"/>
            <a:ext cx="3063240" cy="77724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19" name="Joke 2 stud"/>
          <p:cNvSpPr/>
          <p:nvPr/>
        </p:nvSpPr>
        <p:spPr>
          <a:xfrm>
            <a:off x="512064" y="30723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0" name="Joke 2 stud"/>
          <p:cNvSpPr/>
          <p:nvPr/>
        </p:nvSpPr>
        <p:spPr>
          <a:xfrm>
            <a:off x="3575304" y="30723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1" name="Joke 2 stud"/>
          <p:cNvSpPr/>
          <p:nvPr/>
        </p:nvSpPr>
        <p:spPr>
          <a:xfrm>
            <a:off x="512064" y="384962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2" name="Joke 2 stud"/>
          <p:cNvSpPr/>
          <p:nvPr/>
        </p:nvSpPr>
        <p:spPr>
          <a:xfrm>
            <a:off x="3575304" y="384962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108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“Turns out I was a florist all along.”</a:t>
            </a:r>
            <a:endParaRPr lang="en-US" sz="1400" dirty="0"/>
          </a:p>
        </p:txBody>
      </p:sp>
      <p:sp>
        <p:nvSpPr>
          <p:cNvPr id="24" name="Real 2"/>
          <p:cNvSpPr/>
          <p:nvPr/>
        </p:nvSpPr>
        <p:spPr>
          <a:xfrm>
            <a:off x="3794760" y="3108960"/>
            <a:ext cx="3383280" cy="777240"/>
          </a:xfrm>
          <a:prstGeom prst="rect">
            <a:avLst/>
          </a:prstGeom>
          <a:solidFill>
            <a:srgbClr val="23413A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25" name="Real 2 stud"/>
          <p:cNvSpPr/>
          <p:nvPr/>
        </p:nvSpPr>
        <p:spPr>
          <a:xfrm>
            <a:off x="3758184" y="30723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6" name="Real 2 stud"/>
          <p:cNvSpPr/>
          <p:nvPr/>
        </p:nvSpPr>
        <p:spPr>
          <a:xfrm>
            <a:off x="7141464" y="30723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7" name="Real 2 stud"/>
          <p:cNvSpPr/>
          <p:nvPr/>
        </p:nvSpPr>
        <p:spPr>
          <a:xfrm>
            <a:off x="3758184" y="384962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8" name="Real 2 stud"/>
          <p:cNvSpPr/>
          <p:nvPr/>
        </p:nvSpPr>
        <p:spPr>
          <a:xfrm>
            <a:off x="7141464" y="384962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7764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Burnout isn’t a personal failure. Rest. Talk to someone. Try again.</a:t>
            </a:r>
            <a:endParaRPr lang="en-US" sz="1400" dirty="0"/>
          </a:p>
        </p:txBody>
      </p:sp>
      <p:sp>
        <p:nvSpPr>
          <p:cNvPr id="30" name="Joke 3"/>
          <p:cNvSpPr/>
          <p:nvPr/>
        </p:nvSpPr>
        <p:spPr>
          <a:xfrm>
            <a:off x="548640" y="4069080"/>
            <a:ext cx="3063240" cy="77724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31" name="Joke 3 stud"/>
          <p:cNvSpPr/>
          <p:nvPr/>
        </p:nvSpPr>
        <p:spPr>
          <a:xfrm>
            <a:off x="512064" y="40325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2" name="Joke 3 stud"/>
          <p:cNvSpPr/>
          <p:nvPr/>
        </p:nvSpPr>
        <p:spPr>
          <a:xfrm>
            <a:off x="3575304" y="40325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3" name="Joke 3 stud"/>
          <p:cNvSpPr/>
          <p:nvPr/>
        </p:nvSpPr>
        <p:spPr>
          <a:xfrm>
            <a:off x="512064" y="4809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4" name="Joke 3 stud"/>
          <p:cNvSpPr/>
          <p:nvPr/>
        </p:nvSpPr>
        <p:spPr>
          <a:xfrm>
            <a:off x="3575304" y="4809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069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“We’re a family!” — a CEO</a:t>
            </a:r>
            <a:endParaRPr lang="en-US" sz="1400" dirty="0"/>
          </a:p>
        </p:txBody>
      </p:sp>
      <p:sp>
        <p:nvSpPr>
          <p:cNvPr id="36" name="Real 3"/>
          <p:cNvSpPr/>
          <p:nvPr/>
        </p:nvSpPr>
        <p:spPr>
          <a:xfrm>
            <a:off x="3794760" y="4069080"/>
            <a:ext cx="3383280" cy="777240"/>
          </a:xfrm>
          <a:prstGeom prst="rect">
            <a:avLst/>
          </a:prstGeom>
          <a:solidFill>
            <a:srgbClr val="23413A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37" name="Real 3 stud"/>
          <p:cNvSpPr/>
          <p:nvPr/>
        </p:nvSpPr>
        <p:spPr>
          <a:xfrm>
            <a:off x="3758184" y="40325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8" name="Real 3 stud"/>
          <p:cNvSpPr/>
          <p:nvPr/>
        </p:nvSpPr>
        <p:spPr>
          <a:xfrm>
            <a:off x="7141464" y="403250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9" name="Real 3 stud"/>
          <p:cNvSpPr/>
          <p:nvPr/>
        </p:nvSpPr>
        <p:spPr>
          <a:xfrm>
            <a:off x="3758184" y="4809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40" name="Real 3 stud"/>
          <p:cNvSpPr/>
          <p:nvPr/>
        </p:nvSpPr>
        <p:spPr>
          <a:xfrm>
            <a:off x="7141464" y="4809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977640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“Go home, bunny. That’s how we win.” — a főnök a liftben</a:t>
            </a:r>
            <a:endParaRPr lang="en-US" sz="1400" dirty="0"/>
          </a:p>
        </p:txBody>
      </p:sp>
      <p:sp>
        <p:nvSpPr>
          <p:cNvPr id="42" name="Self-care panel"/>
          <p:cNvSpPr/>
          <p:nvPr/>
        </p:nvSpPr>
        <p:spPr>
          <a:xfrm>
            <a:off x="548640" y="5120640"/>
            <a:ext cx="6629400" cy="96012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43" name="Self-care panel stud"/>
          <p:cNvSpPr/>
          <p:nvPr/>
        </p:nvSpPr>
        <p:spPr>
          <a:xfrm>
            <a:off x="512064" y="50840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44" name="Self-care panel stud"/>
          <p:cNvSpPr/>
          <p:nvPr/>
        </p:nvSpPr>
        <p:spPr>
          <a:xfrm>
            <a:off x="7141464" y="50840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45" name="Self-care panel stud"/>
          <p:cNvSpPr/>
          <p:nvPr/>
        </p:nvSpPr>
        <p:spPr>
          <a:xfrm>
            <a:off x="512064" y="6044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46" name="Self-care panel stud"/>
          <p:cNvSpPr/>
          <p:nvPr/>
        </p:nvSpPr>
        <p:spPr>
          <a:xfrm>
            <a:off x="7141464" y="6044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512064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A"/>
                </a:solidFill>
              </a:rPr>
              <a:t>Az öngondoskodás pontot ér. </a:t>
            </a:r>
            <a:pPr indent="0" marL="0">
              <a:buNone/>
            </a:pPr>
            <a:r>
              <a:rPr lang="en-US" sz="1600" dirty="0">
                <a:solidFill>
                  <a:srgbClr val="F2E8D5"/>
                </a:solidFill>
              </a:rPr>
              <a:t>Minden szünet, mochi és segítő kolléga Self-care bónusz a végén.</a:t>
            </a:r>
            <a:endParaRPr lang="en-US" sz="1600" dirty="0"/>
          </a:p>
        </p:txBody>
      </p:sp>
      <p:sp>
        <p:nvSpPr>
          <p:cNvPr id="48" name="Lift edge"/>
          <p:cNvSpPr/>
          <p:nvPr/>
        </p:nvSpPr>
        <p:spPr>
          <a:xfrm>
            <a:off x="7534656" y="1271016"/>
            <a:ext cx="4133088" cy="2372868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49" name="Lift border"/>
          <p:cNvSpPr/>
          <p:nvPr/>
        </p:nvSpPr>
        <p:spPr>
          <a:xfrm>
            <a:off x="7562088" y="1298448"/>
            <a:ext cx="4078224" cy="2318004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50" name="Lift stud"/>
          <p:cNvSpPr/>
          <p:nvPr/>
        </p:nvSpPr>
        <p:spPr>
          <a:xfrm>
            <a:off x="7534656" y="127101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1" name="Lift stud"/>
          <p:cNvSpPr/>
          <p:nvPr/>
        </p:nvSpPr>
        <p:spPr>
          <a:xfrm>
            <a:off x="11576304" y="127101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2" name="Lift stud"/>
          <p:cNvSpPr/>
          <p:nvPr/>
        </p:nvSpPr>
        <p:spPr>
          <a:xfrm>
            <a:off x="7534656" y="355244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3" name="Lift stud"/>
          <p:cNvSpPr/>
          <p:nvPr/>
        </p:nvSpPr>
        <p:spPr>
          <a:xfrm>
            <a:off x="11576304" y="355244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54" name="Lift" descr="/home/claude/deck/shots/11_li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023360" cy="2263140"/>
          </a:xfrm>
          <a:prstGeom prst="rect">
            <a:avLst/>
          </a:prstGeom>
        </p:spPr>
      </p:pic>
      <p:sp>
        <p:nvSpPr>
          <p:cNvPr id="55" name="Burnout screen edge"/>
          <p:cNvSpPr/>
          <p:nvPr/>
        </p:nvSpPr>
        <p:spPr>
          <a:xfrm>
            <a:off x="7534656" y="3739896"/>
            <a:ext cx="4133088" cy="2372868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56" name="Burnout screen border"/>
          <p:cNvSpPr/>
          <p:nvPr/>
        </p:nvSpPr>
        <p:spPr>
          <a:xfrm>
            <a:off x="7562088" y="3767328"/>
            <a:ext cx="4078224" cy="2318004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57" name="Burnout screen stud"/>
          <p:cNvSpPr/>
          <p:nvPr/>
        </p:nvSpPr>
        <p:spPr>
          <a:xfrm>
            <a:off x="7534656" y="373989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8" name="Burnout screen stud"/>
          <p:cNvSpPr/>
          <p:nvPr/>
        </p:nvSpPr>
        <p:spPr>
          <a:xfrm>
            <a:off x="11576304" y="373989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9" name="Burnout screen stud"/>
          <p:cNvSpPr/>
          <p:nvPr/>
        </p:nvSpPr>
        <p:spPr>
          <a:xfrm>
            <a:off x="7534656" y="602132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60" name="Burnout screen stud"/>
          <p:cNvSpPr/>
          <p:nvPr/>
        </p:nvSpPr>
        <p:spPr>
          <a:xfrm>
            <a:off x="11576304" y="602132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61" name="Burnout screen" descr="/home/claude/deck/shots/12_burnou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794760"/>
            <a:ext cx="4023360" cy="22631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Hogyan épült: egyszerű és gyors</a:t>
            </a:r>
            <a:endParaRPr lang="en-US" sz="3200" dirty="0"/>
          </a:p>
        </p:txBody>
      </p:sp>
      <p:sp>
        <p:nvSpPr>
          <p:cNvPr id="3" name="Arch 1"/>
          <p:cNvSpPr/>
          <p:nvPr/>
        </p:nvSpPr>
        <p:spPr>
          <a:xfrm>
            <a:off x="548640" y="1508760"/>
            <a:ext cx="2514600" cy="201168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4" name="Arch 1 stud"/>
          <p:cNvSpPr/>
          <p:nvPr/>
        </p:nvSpPr>
        <p:spPr>
          <a:xfrm>
            <a:off x="512064" y="1472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" name="Arch 1 stud"/>
          <p:cNvSpPr/>
          <p:nvPr/>
        </p:nvSpPr>
        <p:spPr>
          <a:xfrm>
            <a:off x="3026664" y="1472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6" name="Arch 1 stud"/>
          <p:cNvSpPr/>
          <p:nvPr/>
        </p:nvSpPr>
        <p:spPr>
          <a:xfrm>
            <a:off x="512064" y="34838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7" name="Arch 1 stud"/>
          <p:cNvSpPr/>
          <p:nvPr/>
        </p:nvSpPr>
        <p:spPr>
          <a:xfrm>
            <a:off x="3026664" y="34838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916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Böngésző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194560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HTML5 Canvas + sima JavaScript. Nulla külső könyvtár, nincs build lépés.</a:t>
            </a:r>
            <a:endParaRPr lang="en-US" sz="1400" dirty="0"/>
          </a:p>
        </p:txBody>
      </p:sp>
      <p:sp>
        <p:nvSpPr>
          <p:cNvPr id="10" name="Arrow 1"/>
          <p:cNvSpPr/>
          <p:nvPr/>
        </p:nvSpPr>
        <p:spPr>
          <a:xfrm rot="5400000">
            <a:off x="3136392" y="2377440"/>
            <a:ext cx="201168" cy="181051"/>
          </a:xfrm>
          <a:prstGeom prst="triangle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1" name="Arch 2"/>
          <p:cNvSpPr/>
          <p:nvPr/>
        </p:nvSpPr>
        <p:spPr>
          <a:xfrm>
            <a:off x="3401568" y="1508760"/>
            <a:ext cx="2514600" cy="201168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12" name="Arch 2 stud"/>
          <p:cNvSpPr/>
          <p:nvPr/>
        </p:nvSpPr>
        <p:spPr>
          <a:xfrm>
            <a:off x="3364992" y="1472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3" name="Arch 2 stud"/>
          <p:cNvSpPr/>
          <p:nvPr/>
        </p:nvSpPr>
        <p:spPr>
          <a:xfrm>
            <a:off x="5879592" y="1472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4" name="Arch 2 stud"/>
          <p:cNvSpPr/>
          <p:nvPr/>
        </p:nvSpPr>
        <p:spPr>
          <a:xfrm>
            <a:off x="3364992" y="34838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5" name="Arch 2 stud"/>
          <p:cNvSpPr/>
          <p:nvPr/>
        </p:nvSpPr>
        <p:spPr>
          <a:xfrm>
            <a:off x="5879592" y="34838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16916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Cloudflare Workers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602736" y="2194560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Statikus hosting GitHubról, minden push után élesben.</a:t>
            </a:r>
            <a:endParaRPr lang="en-US" sz="1400" dirty="0"/>
          </a:p>
        </p:txBody>
      </p:sp>
      <p:sp>
        <p:nvSpPr>
          <p:cNvPr id="18" name="Arrow 2"/>
          <p:cNvSpPr/>
          <p:nvPr/>
        </p:nvSpPr>
        <p:spPr>
          <a:xfrm rot="5400000">
            <a:off x="5989320" y="2377440"/>
            <a:ext cx="201168" cy="181051"/>
          </a:xfrm>
          <a:prstGeom prst="triangle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9" name="Arch 3"/>
          <p:cNvSpPr/>
          <p:nvPr/>
        </p:nvSpPr>
        <p:spPr>
          <a:xfrm>
            <a:off x="6254496" y="1508760"/>
            <a:ext cx="2514600" cy="201168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20" name="Arch 3 stud"/>
          <p:cNvSpPr/>
          <p:nvPr/>
        </p:nvSpPr>
        <p:spPr>
          <a:xfrm>
            <a:off x="6217920" y="1472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1" name="Arch 3 stud"/>
          <p:cNvSpPr/>
          <p:nvPr/>
        </p:nvSpPr>
        <p:spPr>
          <a:xfrm>
            <a:off x="8732520" y="1472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2" name="Arch 3 stud"/>
          <p:cNvSpPr/>
          <p:nvPr/>
        </p:nvSpPr>
        <p:spPr>
          <a:xfrm>
            <a:off x="6217920" y="34838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3" name="Arch 3 stud"/>
          <p:cNvSpPr/>
          <p:nvPr/>
        </p:nvSpPr>
        <p:spPr>
          <a:xfrm>
            <a:off x="8732520" y="34838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55664" y="16916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+ KV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55664" y="2194560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Saját ranglista-API. Offline is működik: helyi mentésre vált.</a:t>
            </a:r>
            <a:endParaRPr lang="en-US" sz="1400" dirty="0"/>
          </a:p>
        </p:txBody>
      </p:sp>
      <p:sp>
        <p:nvSpPr>
          <p:cNvPr id="26" name="Arrow 3"/>
          <p:cNvSpPr/>
          <p:nvPr/>
        </p:nvSpPr>
        <p:spPr>
          <a:xfrm rot="5400000">
            <a:off x="8842248" y="2377440"/>
            <a:ext cx="201168" cy="181051"/>
          </a:xfrm>
          <a:prstGeom prst="triangle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27" name="Arch 4"/>
          <p:cNvSpPr/>
          <p:nvPr/>
        </p:nvSpPr>
        <p:spPr>
          <a:xfrm>
            <a:off x="9107424" y="1508760"/>
            <a:ext cx="2514600" cy="201168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28" name="Arch 4 stud"/>
          <p:cNvSpPr/>
          <p:nvPr/>
        </p:nvSpPr>
        <p:spPr>
          <a:xfrm>
            <a:off x="9070848" y="1472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9" name="Arch 4 stud"/>
          <p:cNvSpPr/>
          <p:nvPr/>
        </p:nvSpPr>
        <p:spPr>
          <a:xfrm>
            <a:off x="11585448" y="147218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0" name="Arch 4 stud"/>
          <p:cNvSpPr/>
          <p:nvPr/>
        </p:nvSpPr>
        <p:spPr>
          <a:xfrm>
            <a:off x="9070848" y="34838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1" name="Arch 4 stud"/>
          <p:cNvSpPr/>
          <p:nvPr/>
        </p:nvSpPr>
        <p:spPr>
          <a:xfrm>
            <a:off x="11585448" y="348386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08592" y="16916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ikigai404.online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308592" y="2194560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Saját domain, megosztható link a zsűrinek és a kollégáknak.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CSAPAT KÓD NÉLKÜL IS HANGOL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config.json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800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Minden szám: sebesség, sebzés, ellenségszám, pontozás, hangerő.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29768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texts.json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4297680" y="4800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Minden szöveg: 260 mondat a kollégáktól a lift-párbeszédig.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0" y="4800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Képek és hangok listája. Hiányzó kép helyett színes helykitöltő.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ChatGPT-képből játékbeli pixel art</a:t>
            </a:r>
            <a:endParaRPr lang="en-US" sz="3200" dirty="0"/>
          </a:p>
        </p:txBody>
      </p:sp>
      <p:sp>
        <p:nvSpPr>
          <p:cNvPr id="3" name="Raw art edge"/>
          <p:cNvSpPr/>
          <p:nvPr/>
        </p:nvSpPr>
        <p:spPr>
          <a:xfrm>
            <a:off x="493776" y="1408176"/>
            <a:ext cx="4224528" cy="2852928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4" name="Raw art border"/>
          <p:cNvSpPr/>
          <p:nvPr/>
        </p:nvSpPr>
        <p:spPr>
          <a:xfrm>
            <a:off x="521208" y="1435608"/>
            <a:ext cx="4169664" cy="2798064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5" name="Raw art stud"/>
          <p:cNvSpPr/>
          <p:nvPr/>
        </p:nvSpPr>
        <p:spPr>
          <a:xfrm>
            <a:off x="493776" y="140817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6" name="Raw art stud"/>
          <p:cNvSpPr/>
          <p:nvPr/>
        </p:nvSpPr>
        <p:spPr>
          <a:xfrm>
            <a:off x="4626864" y="140817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7" name="Raw art stud"/>
          <p:cNvSpPr/>
          <p:nvPr/>
        </p:nvSpPr>
        <p:spPr>
          <a:xfrm>
            <a:off x="493776" y="416966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Raw art stud"/>
          <p:cNvSpPr/>
          <p:nvPr/>
        </p:nvSpPr>
        <p:spPr>
          <a:xfrm>
            <a:off x="4626864" y="416966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9" name="Raw art" descr="/home/claude/deck/shots/raw_begg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114800" cy="2743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9E93"/>
                </a:solidFill>
              </a:rPr>
              <a:t>Amit a ChatGPT ad: magenta háttér, puha pixelek</a:t>
            </a:r>
            <a:endParaRPr lang="en-US" sz="1300" dirty="0"/>
          </a:p>
        </p:txBody>
      </p:sp>
      <p:sp>
        <p:nvSpPr>
          <p:cNvPr id="11" name="Pipeline arrow"/>
          <p:cNvSpPr/>
          <p:nvPr/>
        </p:nvSpPr>
        <p:spPr>
          <a:xfrm rot="5400000">
            <a:off x="4937760" y="2651760"/>
            <a:ext cx="347472" cy="312725"/>
          </a:xfrm>
          <a:prstGeom prst="triangle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2" name="Sprite strip edge"/>
          <p:cNvSpPr/>
          <p:nvPr/>
        </p:nvSpPr>
        <p:spPr>
          <a:xfrm>
            <a:off x="5431536" y="2185416"/>
            <a:ext cx="6236208" cy="1386078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3" name="Sprite strip border"/>
          <p:cNvSpPr/>
          <p:nvPr/>
        </p:nvSpPr>
        <p:spPr>
          <a:xfrm>
            <a:off x="5458968" y="2212848"/>
            <a:ext cx="6181344" cy="1331214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14" name="Sprite strip stud"/>
          <p:cNvSpPr/>
          <p:nvPr/>
        </p:nvSpPr>
        <p:spPr>
          <a:xfrm>
            <a:off x="5431536" y="218541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5" name="Sprite strip stud"/>
          <p:cNvSpPr/>
          <p:nvPr/>
        </p:nvSpPr>
        <p:spPr>
          <a:xfrm>
            <a:off x="11576304" y="218541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6" name="Sprite strip stud"/>
          <p:cNvSpPr/>
          <p:nvPr/>
        </p:nvSpPr>
        <p:spPr>
          <a:xfrm>
            <a:off x="5431536" y="348005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7" name="Sprite strip stud"/>
          <p:cNvSpPr/>
          <p:nvPr/>
        </p:nvSpPr>
        <p:spPr>
          <a:xfrm>
            <a:off x="11576304" y="348005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18" name="Sprite strip" descr="/home/claude/deck/shots/pix_begg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40280"/>
            <a:ext cx="6126480" cy="127635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86400" y="36576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9E93"/>
                </a:solidFill>
              </a:rPr>
              <a:t>Ami a játékba kerül: valódi pixelek, közös paletta, igazított képkockák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4846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4873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960120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8D5"/>
                </a:solidFill>
              </a:rPr>
              <a:t>Közös táblázatban, 75 kép, kiosztással és státusszal.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364992" y="4846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3776472" y="4873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Generálás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3776472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8D5"/>
                </a:solidFill>
              </a:rPr>
              <a:t>A csapat ChatGPT-ben készíti, magenta háttérre.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181344" y="4846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6592824" y="4873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process_art.py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6592824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8D5"/>
                </a:solidFill>
              </a:rPr>
              <a:t>Kulcsolás, rács-felismerés, pixelméret-becslés, palettára igazítás.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997696" y="4846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6"/>
          <p:cNvSpPr txBox="1"/>
          <p:nvPr/>
        </p:nvSpPr>
        <p:spPr>
          <a:xfrm>
            <a:off x="9409176" y="4873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Animáció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9409176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8D5"/>
                </a:solidFill>
              </a:rPr>
              <a:t>A lépés a megtett úthoz kötve: a láb nem csúszik.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Számokban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8D5"/>
                </a:solidFill>
              </a:rPr>
              <a:t>képlap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</a:rPr>
              <a:t>karakterek, kellékek, csempék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417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8D5"/>
                </a:solidFill>
              </a:rPr>
              <a:t>hangeffekt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</a:rPr>
              <a:t>variánsok, egyforma hangerőre keverve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417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3 800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8D5"/>
                </a:solidFill>
              </a:rPr>
              <a:t>sor kód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</a:rPr>
              <a:t>nagyjából; motor, jelenetek, pálya, eszközök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94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8D5"/>
                </a:solidFill>
              </a:rPr>
              <a:t>szöveg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20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</a:rPr>
              <a:t>kollégák, bossok, lift, tippek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794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8D5"/>
                </a:solidFill>
              </a:rPr>
              <a:t>irodai szék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5120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</a:rPr>
              <a:t>~30-on dolgozik valaki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794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8D5"/>
                </a:solidFill>
              </a:rPr>
              <a:t>külső könyvtár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5120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</a:rPr>
              <a:t>csak böngésző és Canvas</a:t>
            </a:r>
            <a:endParaRPr lang="en-US" sz="1300" dirty="0"/>
          </a:p>
        </p:txBody>
      </p:sp>
      <p:sp>
        <p:nvSpPr>
          <p:cNvPr id="21" name="Office map edge"/>
          <p:cNvSpPr/>
          <p:nvPr/>
        </p:nvSpPr>
        <p:spPr>
          <a:xfrm>
            <a:off x="7077456" y="1362456"/>
            <a:ext cx="4590288" cy="2910078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22" name="Office map border"/>
          <p:cNvSpPr/>
          <p:nvPr/>
        </p:nvSpPr>
        <p:spPr>
          <a:xfrm>
            <a:off x="7104888" y="1389888"/>
            <a:ext cx="4535424" cy="2855214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23" name="Office map stud"/>
          <p:cNvSpPr/>
          <p:nvPr/>
        </p:nvSpPr>
        <p:spPr>
          <a:xfrm>
            <a:off x="7077456" y="136245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4" name="Office map stud"/>
          <p:cNvSpPr/>
          <p:nvPr/>
        </p:nvSpPr>
        <p:spPr>
          <a:xfrm>
            <a:off x="11576304" y="136245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5" name="Office map stud"/>
          <p:cNvSpPr/>
          <p:nvPr/>
        </p:nvSpPr>
        <p:spPr>
          <a:xfrm>
            <a:off x="7077456" y="418109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6" name="Office map stud"/>
          <p:cNvSpPr/>
          <p:nvPr/>
        </p:nvSpPr>
        <p:spPr>
          <a:xfrm>
            <a:off x="11576304" y="4181094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27" name="Office map" descr="/home/claude/deck/shots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17320"/>
            <a:ext cx="4480560" cy="280035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132320" y="4389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39E93"/>
                </a:solidFill>
              </a:rPr>
              <a:t>A teljes iroda: tárgyaló, konyha, szerverszoba, archívum, lift és a japán „sziget” asztalok.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Csapat + AI: ki mit csinált</a:t>
            </a:r>
            <a:endParaRPr lang="en-US" sz="3200" dirty="0"/>
          </a:p>
        </p:txBody>
      </p:sp>
      <p:sp>
        <p:nvSpPr>
          <p:cNvPr id="3" name="Role 1"/>
          <p:cNvSpPr/>
          <p:nvPr/>
        </p:nvSpPr>
        <p:spPr>
          <a:xfrm>
            <a:off x="548640" y="1417320"/>
            <a:ext cx="3474720" cy="205740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4" name="Role 1 stud"/>
          <p:cNvSpPr/>
          <p:nvPr/>
        </p:nvSpPr>
        <p:spPr>
          <a:xfrm>
            <a:off x="512064" y="1380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5" name="Role 1 stud"/>
          <p:cNvSpPr/>
          <p:nvPr/>
        </p:nvSpPr>
        <p:spPr>
          <a:xfrm>
            <a:off x="3986784" y="1380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6" name="Role 1 stud"/>
          <p:cNvSpPr/>
          <p:nvPr/>
        </p:nvSpPr>
        <p:spPr>
          <a:xfrm>
            <a:off x="512064" y="34381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7" name="Role 1 stud"/>
          <p:cNvSpPr/>
          <p:nvPr/>
        </p:nvSpPr>
        <p:spPr>
          <a:xfrm>
            <a:off x="3986784" y="34381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Termékgazda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8D5"/>
                </a:solidFill>
              </a:rPr>
              <a:t>Döntések és irány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8D5"/>
                </a:solidFill>
              </a:rPr>
              <a:t>Build, GitHub, Cloudflare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8D5"/>
                </a:solidFill>
              </a:rPr>
              <a:t>Playtest és visszajelzés</a:t>
            </a:r>
            <a:endParaRPr lang="en-US" sz="1500" dirty="0"/>
          </a:p>
        </p:txBody>
      </p:sp>
      <p:sp>
        <p:nvSpPr>
          <p:cNvPr id="10" name="Role 2"/>
          <p:cNvSpPr/>
          <p:nvPr/>
        </p:nvSpPr>
        <p:spPr>
          <a:xfrm>
            <a:off x="4297680" y="1417320"/>
            <a:ext cx="3474720" cy="205740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11" name="Role 2 stud"/>
          <p:cNvSpPr/>
          <p:nvPr/>
        </p:nvSpPr>
        <p:spPr>
          <a:xfrm>
            <a:off x="4261104" y="1380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2" name="Role 2 stud"/>
          <p:cNvSpPr/>
          <p:nvPr/>
        </p:nvSpPr>
        <p:spPr>
          <a:xfrm>
            <a:off x="7735824" y="1380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3" name="Role 2 stud"/>
          <p:cNvSpPr/>
          <p:nvPr/>
        </p:nvSpPr>
        <p:spPr>
          <a:xfrm>
            <a:off x="4261104" y="34381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4" name="Role 2 stud"/>
          <p:cNvSpPr/>
          <p:nvPr/>
        </p:nvSpPr>
        <p:spPr>
          <a:xfrm>
            <a:off x="7735824" y="34381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Csapat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1488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8D5"/>
                </a:solidFill>
              </a:rPr>
              <a:t>Képek ChatGPT-ben, promptból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8D5"/>
                </a:solidFill>
              </a:rPr>
              <a:t>Kollégák és bossok szövegei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8D5"/>
                </a:solidFill>
              </a:rPr>
              <a:t>Hangeffektek</a:t>
            </a:r>
            <a:endParaRPr lang="en-US" sz="1500" dirty="0"/>
          </a:p>
        </p:txBody>
      </p:sp>
      <p:sp>
        <p:nvSpPr>
          <p:cNvPr id="17" name="Role 3"/>
          <p:cNvSpPr/>
          <p:nvPr/>
        </p:nvSpPr>
        <p:spPr>
          <a:xfrm>
            <a:off x="8046720" y="1417320"/>
            <a:ext cx="3474720" cy="2057400"/>
          </a:xfrm>
          <a:prstGeom prst="rect">
            <a:avLst/>
          </a:prstGeom>
          <a:solidFill>
            <a:srgbClr val="20234C"/>
          </a:solidFill>
          <a:ln w="15875">
            <a:solidFill>
              <a:srgbClr val="F2E8D5"/>
            </a:solidFill>
            <a:prstDash val="solid"/>
          </a:ln>
        </p:spPr>
      </p:sp>
      <p:sp>
        <p:nvSpPr>
          <p:cNvPr id="18" name="Role 3 stud"/>
          <p:cNvSpPr/>
          <p:nvPr/>
        </p:nvSpPr>
        <p:spPr>
          <a:xfrm>
            <a:off x="8010144" y="1380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9" name="Role 3 stud"/>
          <p:cNvSpPr/>
          <p:nvPr/>
        </p:nvSpPr>
        <p:spPr>
          <a:xfrm>
            <a:off x="11484864" y="13807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0" name="Role 3 stud"/>
          <p:cNvSpPr/>
          <p:nvPr/>
        </p:nvSpPr>
        <p:spPr>
          <a:xfrm>
            <a:off x="8010144" y="34381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1" name="Role 3 stud"/>
          <p:cNvSpPr/>
          <p:nvPr/>
        </p:nvSpPr>
        <p:spPr>
          <a:xfrm>
            <a:off x="11484864" y="3438144"/>
            <a:ext cx="73152" cy="73152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1488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8D5"/>
                </a:solidFill>
              </a:rPr>
              <a:t>Kód és játékmenet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8D5"/>
                </a:solidFill>
              </a:rPr>
              <a:t>Promptok és képfeldolgozás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8D5"/>
                </a:solidFill>
              </a:rPr>
              <a:t>Tesztelés minden kör után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IRÁNYVÁLTÁSOK, AMIKTŐL JOBB LETT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</a:rPr>
              <a:t>Stílusváltás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754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8D5"/>
                </a:solidFill>
              </a:rPr>
              <a:t>A fametszet-stílus nem működött: újrakezdtük 8-bites pixel artban.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</a:rPr>
              <a:t>Olvashatóság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4754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8D5"/>
                </a:solidFill>
              </a:rPr>
              <a:t>Tömör panelek, körvonalas szöveg, nagyobb betű.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</a:rPr>
              <a:t>Egyensúly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754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8D5"/>
                </a:solidFill>
              </a:rPr>
              <a:t>30% kevesebb ellenség, több mochi, gyorsabb kollégahatás.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 jön</a:t>
            </a:r>
            <a:endParaRPr lang="en-US" sz="3200" dirty="0"/>
          </a:p>
        </p:txBody>
      </p:sp>
      <p:sp>
        <p:nvSpPr>
          <p:cNvPr id="3" name="Win screen edge"/>
          <p:cNvSpPr/>
          <p:nvPr/>
        </p:nvSpPr>
        <p:spPr>
          <a:xfrm>
            <a:off x="493776" y="1362456"/>
            <a:ext cx="5870448" cy="3350133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4" name="Win screen border"/>
          <p:cNvSpPr/>
          <p:nvPr/>
        </p:nvSpPr>
        <p:spPr>
          <a:xfrm>
            <a:off x="521208" y="1389888"/>
            <a:ext cx="5815584" cy="3295269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5" name="Win screen stud"/>
          <p:cNvSpPr/>
          <p:nvPr/>
        </p:nvSpPr>
        <p:spPr>
          <a:xfrm>
            <a:off x="493776" y="136245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6" name="Win screen stud"/>
          <p:cNvSpPr/>
          <p:nvPr/>
        </p:nvSpPr>
        <p:spPr>
          <a:xfrm>
            <a:off x="6272784" y="136245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7" name="Win screen stud"/>
          <p:cNvSpPr/>
          <p:nvPr/>
        </p:nvSpPr>
        <p:spPr>
          <a:xfrm>
            <a:off x="493776" y="462114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Win screen stud"/>
          <p:cNvSpPr/>
          <p:nvPr/>
        </p:nvSpPr>
        <p:spPr>
          <a:xfrm>
            <a:off x="6272784" y="4621149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9" name="Win screen" descr="/home/claude/deck/shots/13_w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760720" cy="3240405"/>
          </a:xfrm>
          <a:prstGeom prst="rect">
            <a:avLst/>
          </a:prstGeom>
        </p:spPr>
      </p:pic>
      <p:sp>
        <p:nvSpPr>
          <p:cNvPr id="10" name="Next 1"/>
          <p:cNvSpPr/>
          <p:nvPr/>
        </p:nvSpPr>
        <p:spPr>
          <a:xfrm>
            <a:off x="6720840" y="1536192"/>
            <a:ext cx="201168" cy="201168"/>
          </a:xfrm>
          <a:prstGeom prst="rect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86600" y="14630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2: A menza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84708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Új pálya, új bossok, ugyanaz a nyuszi.</a:t>
            </a:r>
            <a:endParaRPr lang="en-US" sz="1400" dirty="0"/>
          </a:p>
        </p:txBody>
      </p:sp>
      <p:sp>
        <p:nvSpPr>
          <p:cNvPr id="13" name="Next 2"/>
          <p:cNvSpPr/>
          <p:nvPr/>
        </p:nvSpPr>
        <p:spPr>
          <a:xfrm>
            <a:off x="6720840" y="2724912"/>
            <a:ext cx="201168" cy="201168"/>
          </a:xfrm>
          <a:prstGeom prst="rect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86600" y="2651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Week maradványai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303580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Plakátok, hervadó gyümölcskosár, összetekert jógamatrac az asztal alatt.</a:t>
            </a:r>
            <a:endParaRPr lang="en-US" sz="1400" dirty="0"/>
          </a:p>
        </p:txBody>
      </p:sp>
      <p:sp>
        <p:nvSpPr>
          <p:cNvPr id="16" name="Next 3"/>
          <p:cNvSpPr/>
          <p:nvPr/>
        </p:nvSpPr>
        <p:spPr>
          <a:xfrm>
            <a:off x="6720840" y="3913632"/>
            <a:ext cx="201168" cy="201168"/>
          </a:xfrm>
          <a:prstGeom prst="rect">
            <a:avLst/>
          </a:prstGeom>
          <a:solidFill>
            <a:srgbClr val="E8B84A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86600" y="38404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Céges ranglista-esemény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422452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</a:rPr>
              <a:t>Ki éli túl a napot a legtöbb öngondoskodással?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39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2E8D5"/>
                </a:solidFill>
              </a:rPr>
              <a:t>Hazamentél időben.</a:t>
            </a:r>
            <a:endParaRPr lang="en-US" sz="2000" dirty="0"/>
          </a:p>
          <a:p>
            <a:pPr indent="0" marL="0">
              <a:buNone/>
            </a:pPr>
            <a:r>
              <a:rPr lang="en-US" sz="2600" dirty="0">
                <a:solidFill>
                  <a:srgbClr val="E8B84A"/>
                </a:solidFill>
              </a:rPr>
              <a:t>Semmi nem gyulladt ki.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2E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Próbáld ki: ikigai404.online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Köszönjük!</a:t>
            </a:r>
            <a:endParaRPr lang="en-US" sz="2200" dirty="0"/>
          </a:p>
        </p:txBody>
      </p:sp>
      <p:sp>
        <p:nvSpPr>
          <p:cNvPr id="5" name="Street edge"/>
          <p:cNvSpPr/>
          <p:nvPr/>
        </p:nvSpPr>
        <p:spPr>
          <a:xfrm>
            <a:off x="6483096" y="1453896"/>
            <a:ext cx="5184648" cy="2964371"/>
          </a:xfrm>
          <a:prstGeom prst="rect">
            <a:avLst/>
          </a:prstGeom>
          <a:solidFill>
            <a:srgbClr val="1B1A2E"/>
          </a:solidFill>
          <a:ln w="12700">
            <a:solidFill>
              <a:srgbClr val="1B1A2E"/>
            </a:solidFill>
            <a:prstDash val="solid"/>
          </a:ln>
        </p:spPr>
      </p:sp>
      <p:sp>
        <p:nvSpPr>
          <p:cNvPr id="6" name="Street border"/>
          <p:cNvSpPr/>
          <p:nvPr/>
        </p:nvSpPr>
        <p:spPr>
          <a:xfrm>
            <a:off x="6510528" y="1481328"/>
            <a:ext cx="5129784" cy="2909507"/>
          </a:xfrm>
          <a:prstGeom prst="rect">
            <a:avLst/>
          </a:prstGeom>
          <a:ln w="19050">
            <a:solidFill>
              <a:srgbClr val="F2E8D5"/>
            </a:solidFill>
            <a:prstDash val="solid"/>
          </a:ln>
        </p:spPr>
      </p:sp>
      <p:sp>
        <p:nvSpPr>
          <p:cNvPr id="7" name="Street stud"/>
          <p:cNvSpPr/>
          <p:nvPr/>
        </p:nvSpPr>
        <p:spPr>
          <a:xfrm>
            <a:off x="6483096" y="145389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8" name="Street stud"/>
          <p:cNvSpPr/>
          <p:nvPr/>
        </p:nvSpPr>
        <p:spPr>
          <a:xfrm>
            <a:off x="11576304" y="1453896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9" name="Street stud"/>
          <p:cNvSpPr/>
          <p:nvPr/>
        </p:nvSpPr>
        <p:spPr>
          <a:xfrm>
            <a:off x="6483096" y="4326827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sp>
        <p:nvSpPr>
          <p:cNvPr id="10" name="Street stud"/>
          <p:cNvSpPr/>
          <p:nvPr/>
        </p:nvSpPr>
        <p:spPr>
          <a:xfrm>
            <a:off x="11576304" y="4326827"/>
            <a:ext cx="91440" cy="91440"/>
          </a:xfrm>
          <a:prstGeom prst="rect">
            <a:avLst/>
          </a:prstGeom>
          <a:solidFill>
            <a:srgbClr val="D9412B"/>
          </a:solidFill>
          <a:ln w="12700">
            <a:solidFill>
              <a:srgbClr val="D9412B"/>
            </a:solidFill>
            <a:prstDash val="solid"/>
          </a:ln>
        </p:spPr>
      </p:sp>
      <p:pic>
        <p:nvPicPr>
          <p:cNvPr id="11" name="Street" descr="/home/claude/deck/shots/06_str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508760"/>
            <a:ext cx="5074920" cy="28546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kigai 404">
  <a:themeElements>
    <a:clrScheme name="Ikigai 404">
      <a:dk1>
        <a:srgbClr val="1B1A2E"/>
      </a:dk1>
      <a:lt1>
        <a:srgbClr val="F2E8D5"/>
      </a:lt1>
      <a:dk2>
        <a:srgbClr val="26295A"/>
      </a:dk2>
      <a:lt2>
        <a:srgbClr val="A39E93"/>
      </a:lt2>
      <a:accent1>
        <a:srgbClr val="E8B84A"/>
      </a:accent1>
      <a:accent2>
        <a:srgbClr val="D9412B"/>
      </a:accent2>
      <a:accent3>
        <a:srgbClr val="7FB3A0"/>
      </a:accent3>
      <a:accent4>
        <a:srgbClr val="5468A8"/>
      </a:accent4>
      <a:accent5>
        <a:srgbClr val="F2A7B8"/>
      </a:accent5>
      <a:accent6>
        <a:srgbClr val="B97A2E"/>
      </a:accent6>
      <a:hlink>
        <a:srgbClr val="E8B84A"/>
      </a:hlink>
      <a:folHlink>
        <a:srgbClr val="B97A2E"/>
      </a:folHlink>
    </a:clrScheme>
    <a:fontScheme name="Ikigai 404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Ikigai 404</dc:title>
  <dc:subject>PptxGenJS Presentation</dc:subject>
  <dc:creator>Ikigai 404 csapat</dc:creator>
  <cp:lastModifiedBy>Ikigai 404 csapat</cp:lastModifiedBy>
  <cp:revision>1</cp:revision>
  <dcterms:created xsi:type="dcterms:W3CDTF">2026-10-16T21:41:17Z</dcterms:created>
  <dcterms:modified xsi:type="dcterms:W3CDTF">2026-10-16T21:41:17Z</dcterms:modified>
</cp:coreProperties>
</file>